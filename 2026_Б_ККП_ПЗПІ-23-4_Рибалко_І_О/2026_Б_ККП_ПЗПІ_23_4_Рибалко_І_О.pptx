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72" r:id="rId9"/>
    <p:sldId id="263" r:id="rId10"/>
    <p:sldId id="264" r:id="rId11"/>
    <p:sldId id="270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95924108-B032-3397-4775-3C43C893D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376BD4D3-6673-1340-4D5B-309E468FB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FA6254C5-4045-4768-625C-FE3397367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37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F5D1BE71-BC2E-31BF-E01F-5374D185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94678F59-C3F7-238D-DF79-CB7DC5B5D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92044012-1DA8-986A-991A-20F00566B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931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1D1553E-DC4B-81BD-2C6C-F11C71C2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A54D3543-522E-29E8-BD47-98BEAEF7C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38F9BEAF-922A-D3DD-E418-2F275332B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824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48474" y="748793"/>
            <a:ext cx="3435100" cy="1473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ru-RU" sz="2000" dirty="0"/>
              <a:t>П</a:t>
            </a:r>
            <a:r>
              <a:rPr lang="uk-UA" sz="2000" dirty="0"/>
              <a:t>рограмна система для контролю звичок та продуктивності з елементами гейміфікації</a:t>
            </a:r>
            <a:endParaRPr sz="20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63544" y="3577050"/>
            <a:ext cx="500496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Рибалко Ігор Олегович, ПЗПІ-23-4</a:t>
            </a:r>
            <a:r>
              <a:rPr lang="uk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доц. </a:t>
            </a:r>
            <a:r>
              <a:rPr lang="ru-RU" dirty="0"/>
              <a:t>к</a:t>
            </a:r>
            <a:r>
              <a:rPr lang="uk" dirty="0"/>
              <a:t>аф. ПІ Мазурова Оксана Олексіївна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13 червня 2025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4182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>
              <a:spcBef>
                <a:spcPts val="1200"/>
              </a:spcBef>
              <a:buNone/>
            </a:pPr>
            <a:r>
              <a:rPr lang="ru-RU" sz="2000" b="1" dirty="0"/>
              <a:t>Мета:</a:t>
            </a:r>
            <a:r>
              <a:rPr lang="ru-RU" sz="2000" dirty="0"/>
              <a:t> створення повнофункціонального </a:t>
            </a:r>
            <a:r>
              <a:rPr lang="ru-RU" sz="2000" b="1" dirty="0"/>
              <a:t>веб-застосунку</a:t>
            </a:r>
            <a:r>
              <a:rPr lang="ru-RU" sz="2000" dirty="0"/>
              <a:t> для формування корисних звичок, відстеження особистого прогресу та підвищення мотивації через </a:t>
            </a:r>
            <a:r>
              <a:rPr lang="ru-RU" sz="2000" b="1" dirty="0"/>
              <a:t>ігрову механіку</a:t>
            </a:r>
            <a:r>
              <a:rPr lang="ru-RU" sz="2000" dirty="0"/>
              <a:t> і </a:t>
            </a:r>
            <a:r>
              <a:rPr lang="ru-RU" sz="2000" b="1" dirty="0"/>
              <a:t>віртуального улюбленця</a:t>
            </a:r>
          </a:p>
          <a:p>
            <a:pPr marL="0" lvl="0" indent="0" algn="just">
              <a:spcBef>
                <a:spcPts val="1200"/>
              </a:spcBef>
              <a:buNone/>
            </a:pPr>
            <a:r>
              <a:rPr lang="ru-RU" sz="2000" b="1" dirty="0"/>
              <a:t>Актуальність:</a:t>
            </a:r>
            <a:r>
              <a:rPr lang="ru-RU" sz="2000" dirty="0"/>
              <a:t> більшість існуючих трекерів звичок не мають достатньої мотиваційної складової, що призводить до швидкої втрати інтересу користувача. </a:t>
            </a:r>
            <a:r>
              <a:rPr lang="en-US" sz="2000" dirty="0" err="1"/>
              <a:t>HabitPet</a:t>
            </a:r>
            <a:r>
              <a:rPr lang="en-US" sz="2000" dirty="0"/>
              <a:t> </a:t>
            </a:r>
            <a:r>
              <a:rPr lang="ru-RU" sz="2000" dirty="0"/>
              <a:t>вирішує цю проблему через гейміфікацію та емоційний зв'язок з персонажем</a:t>
            </a:r>
            <a:endParaRPr sz="2000"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E8E3A0-38A1-481C-8D15-E02F5FBBC8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37" y="1463081"/>
            <a:ext cx="4621548" cy="2217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98E197-5EDB-67F5-6303-5D1FB678A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531" y="1470088"/>
            <a:ext cx="1575240" cy="34234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C8D925-32C2-941B-89EB-B3C89D45E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6531" y="1470087"/>
            <a:ext cx="1575240" cy="3403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A548C2-3317-C059-9971-429C85DCFEEF}"/>
              </a:ext>
            </a:extLst>
          </p:cNvPr>
          <p:cNvSpPr txBox="1"/>
          <p:nvPr/>
        </p:nvSpPr>
        <p:spPr>
          <a:xfrm>
            <a:off x="-87406" y="978402"/>
            <a:ext cx="1712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Habitica</a:t>
            </a:r>
            <a:endParaRPr lang="ru-UA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0486A-845E-66B7-7B40-58B59A83B0EF}"/>
              </a:ext>
            </a:extLst>
          </p:cNvPr>
          <p:cNvSpPr txBox="1"/>
          <p:nvPr/>
        </p:nvSpPr>
        <p:spPr>
          <a:xfrm>
            <a:off x="4572000" y="978402"/>
            <a:ext cx="1712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Streaks</a:t>
            </a:r>
            <a:endParaRPr lang="ru-UA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3E249-A259-3B32-3947-0C6A7C2BA114}"/>
              </a:ext>
            </a:extLst>
          </p:cNvPr>
          <p:cNvSpPr txBox="1"/>
          <p:nvPr/>
        </p:nvSpPr>
        <p:spPr>
          <a:xfrm>
            <a:off x="6284976" y="978402"/>
            <a:ext cx="1712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</a:t>
            </a:r>
            <a:endParaRPr lang="ru-UA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825262"/>
            <a:ext cx="86037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342900" lvl="0">
              <a:spcBef>
                <a:spcPts val="1500"/>
              </a:spcBef>
              <a:buFont typeface="+mj-lt"/>
              <a:buAutoNum type="alphaLcParenR"/>
            </a:pPr>
            <a:r>
              <a:rPr lang="ru-RU" dirty="0">
                <a:solidFill>
                  <a:srgbClr val="0D0D0D"/>
                </a:solidFill>
              </a:rPr>
              <a:t>провести </a:t>
            </a:r>
            <a:r>
              <a:rPr lang="ru-RU" dirty="0" err="1">
                <a:solidFill>
                  <a:srgbClr val="0D0D0D"/>
                </a:solidFill>
              </a:rPr>
              <a:t>аналіз</a:t>
            </a:r>
            <a:r>
              <a:rPr lang="ru-RU" dirty="0">
                <a:solidFill>
                  <a:srgbClr val="0D0D0D"/>
                </a:solidFill>
              </a:rPr>
              <a:t> предметної галузі, визначити вимоги до системи та побудувати </a:t>
            </a:r>
            <a:r>
              <a:rPr lang="en-US" dirty="0">
                <a:solidFill>
                  <a:srgbClr val="0D0D0D"/>
                </a:solidFill>
              </a:rPr>
              <a:t>UML-</a:t>
            </a:r>
            <a:r>
              <a:rPr lang="ru-RU" dirty="0">
                <a:solidFill>
                  <a:srgbClr val="0D0D0D"/>
                </a:solidFill>
              </a:rPr>
              <a:t>діаграми; </a:t>
            </a:r>
          </a:p>
          <a:p>
            <a:pPr marL="342900" lvl="0">
              <a:spcBef>
                <a:spcPts val="1500"/>
              </a:spcBef>
              <a:buFont typeface="+mj-lt"/>
              <a:buAutoNum type="alphaLcParenR"/>
            </a:pPr>
            <a:r>
              <a:rPr lang="ru-RU" dirty="0" err="1">
                <a:solidFill>
                  <a:srgbClr val="0D0D0D"/>
                </a:solidFill>
              </a:rPr>
              <a:t>спроектувати</a:t>
            </a:r>
            <a:r>
              <a:rPr lang="ru-RU" dirty="0">
                <a:solidFill>
                  <a:srgbClr val="0D0D0D"/>
                </a:solidFill>
              </a:rPr>
              <a:t> схему реляційної </a:t>
            </a:r>
            <a:r>
              <a:rPr lang="ru-RU" dirty="0" err="1">
                <a:solidFill>
                  <a:srgbClr val="0D0D0D"/>
                </a:solidFill>
              </a:rPr>
              <a:t>бази</a:t>
            </a:r>
            <a:r>
              <a:rPr lang="ru-RU" dirty="0">
                <a:solidFill>
                  <a:srgbClr val="0D0D0D"/>
                </a:solidFill>
              </a:rPr>
              <a:t> </a:t>
            </a:r>
            <a:r>
              <a:rPr lang="ru-RU" dirty="0" err="1">
                <a:solidFill>
                  <a:srgbClr val="0D0D0D"/>
                </a:solidFill>
              </a:rPr>
              <a:t>даних</a:t>
            </a:r>
            <a:r>
              <a:rPr lang="ru-RU" dirty="0">
                <a:solidFill>
                  <a:srgbClr val="0D0D0D"/>
                </a:solidFill>
              </a:rPr>
              <a:t>;</a:t>
            </a:r>
            <a:endParaRPr lang="uk-UA" dirty="0">
              <a:solidFill>
                <a:srgbClr val="0D0D0D"/>
              </a:solidFill>
            </a:endParaRPr>
          </a:p>
          <a:p>
            <a:pPr marL="342900" lvl="0">
              <a:spcBef>
                <a:spcPts val="1500"/>
              </a:spcBef>
              <a:buFont typeface="+mj-lt"/>
              <a:buAutoNum type="alphaLcParenR"/>
            </a:pPr>
            <a:r>
              <a:rPr lang="ru-RU" dirty="0">
                <a:solidFill>
                  <a:srgbClr val="0D0D0D"/>
                </a:solidFill>
              </a:rPr>
              <a:t>спроєктувати </a:t>
            </a:r>
            <a:r>
              <a:rPr lang="ru-RU" dirty="0" err="1">
                <a:solidFill>
                  <a:srgbClr val="0D0D0D"/>
                </a:solidFill>
              </a:rPr>
              <a:t>архітектуру</a:t>
            </a:r>
            <a:r>
              <a:rPr lang="ru-RU" dirty="0">
                <a:solidFill>
                  <a:srgbClr val="0D0D0D"/>
                </a:solidFill>
              </a:rPr>
              <a:t> </a:t>
            </a:r>
            <a:r>
              <a:rPr lang="ru-RU" dirty="0" err="1">
                <a:solidFill>
                  <a:srgbClr val="0D0D0D"/>
                </a:solidFill>
              </a:rPr>
              <a:t>системи</a:t>
            </a:r>
            <a:r>
              <a:rPr lang="ru-RU" dirty="0">
                <a:solidFill>
                  <a:srgbClr val="0D0D0D"/>
                </a:solidFill>
              </a:rPr>
              <a:t> на основі </a:t>
            </a:r>
            <a:r>
              <a:rPr lang="en-US" dirty="0">
                <a:solidFill>
                  <a:srgbClr val="0D0D0D"/>
                </a:solidFill>
              </a:rPr>
              <a:t>Clean Architecture </a:t>
            </a:r>
            <a:r>
              <a:rPr lang="ru-RU" dirty="0">
                <a:solidFill>
                  <a:srgbClr val="0D0D0D"/>
                </a:solidFill>
              </a:rPr>
              <a:t>з чітким розподілом між шарами </a:t>
            </a:r>
            <a:r>
              <a:rPr lang="en-US" dirty="0">
                <a:solidFill>
                  <a:srgbClr val="0D0D0D"/>
                </a:solidFill>
              </a:rPr>
              <a:t>Domain, Application, Infrastructure, Persistence </a:t>
            </a:r>
            <a:r>
              <a:rPr lang="ru-RU" dirty="0">
                <a:solidFill>
                  <a:srgbClr val="0D0D0D"/>
                </a:solidFill>
              </a:rPr>
              <a:t>та </a:t>
            </a:r>
            <a:r>
              <a:rPr lang="en-US" dirty="0">
                <a:solidFill>
                  <a:srgbClr val="0D0D0D"/>
                </a:solidFill>
              </a:rPr>
              <a:t>API; </a:t>
            </a:r>
            <a:endParaRPr lang="uk-UA" dirty="0">
              <a:solidFill>
                <a:srgbClr val="0D0D0D"/>
              </a:solidFill>
            </a:endParaRPr>
          </a:p>
          <a:p>
            <a:pPr marL="342900" lvl="0">
              <a:spcBef>
                <a:spcPts val="1500"/>
              </a:spcBef>
              <a:buFont typeface="+mj-lt"/>
              <a:buAutoNum type="alphaLcParenR"/>
            </a:pPr>
            <a:r>
              <a:rPr lang="ru-RU" dirty="0">
                <a:solidFill>
                  <a:srgbClr val="0D0D0D"/>
                </a:solidFill>
              </a:rPr>
              <a:t>розробити алгоритми ігрової економіки: формулу нарахування </a:t>
            </a:r>
            <a:r>
              <a:rPr lang="en-US" dirty="0">
                <a:solidFill>
                  <a:srgbClr val="0D0D0D"/>
                </a:solidFill>
              </a:rPr>
              <a:t>XP, </a:t>
            </a:r>
            <a:r>
              <a:rPr lang="ru-RU" dirty="0">
                <a:solidFill>
                  <a:srgbClr val="0D0D0D"/>
                </a:solidFill>
              </a:rPr>
              <a:t>прогресію рівнів, </a:t>
            </a:r>
            <a:r>
              <a:rPr lang="en-US" dirty="0">
                <a:solidFill>
                  <a:srgbClr val="0D0D0D"/>
                </a:solidFill>
              </a:rPr>
              <a:t>catch-up decay </a:t>
            </a:r>
            <a:r>
              <a:rPr lang="ru-RU" dirty="0">
                <a:solidFill>
                  <a:srgbClr val="0D0D0D"/>
                </a:solidFill>
              </a:rPr>
              <a:t>стану улюбленця та автоматичну перевірку досягнень; </a:t>
            </a:r>
          </a:p>
          <a:p>
            <a:pPr marL="342900" lvl="0">
              <a:spcBef>
                <a:spcPts val="1500"/>
              </a:spcBef>
              <a:buFont typeface="+mj-lt"/>
              <a:buAutoNum type="alphaLcParenR"/>
            </a:pPr>
            <a:r>
              <a:rPr lang="ru-RU" dirty="0">
                <a:solidFill>
                  <a:srgbClr val="0D0D0D"/>
                </a:solidFill>
              </a:rPr>
              <a:t>реалізувати систему на </a:t>
            </a:r>
            <a:r>
              <a:rPr lang="en-US" dirty="0">
                <a:solidFill>
                  <a:srgbClr val="0D0D0D"/>
                </a:solidFill>
              </a:rPr>
              <a:t>ASP.NET Core Web API </a:t>
            </a:r>
            <a:r>
              <a:rPr lang="ru-RU" dirty="0">
                <a:solidFill>
                  <a:srgbClr val="0D0D0D"/>
                </a:solidFill>
              </a:rPr>
              <a:t>з </a:t>
            </a:r>
            <a:r>
              <a:rPr lang="en-US" dirty="0">
                <a:solidFill>
                  <a:srgbClr val="0D0D0D"/>
                </a:solidFill>
              </a:rPr>
              <a:t>JWT </a:t>
            </a:r>
            <a:r>
              <a:rPr lang="ru-RU" dirty="0">
                <a:solidFill>
                  <a:srgbClr val="0D0D0D"/>
                </a:solidFill>
              </a:rPr>
              <a:t>та </a:t>
            </a:r>
            <a:r>
              <a:rPr lang="en-US" dirty="0">
                <a:solidFill>
                  <a:srgbClr val="0D0D0D"/>
                </a:solidFill>
              </a:rPr>
              <a:t>OTP </a:t>
            </a:r>
            <a:r>
              <a:rPr lang="ru-RU" dirty="0">
                <a:solidFill>
                  <a:srgbClr val="0D0D0D"/>
                </a:solidFill>
              </a:rPr>
              <a:t>для бекенду і </a:t>
            </a:r>
            <a:r>
              <a:rPr lang="en-US" dirty="0">
                <a:solidFill>
                  <a:srgbClr val="0D0D0D"/>
                </a:solidFill>
              </a:rPr>
              <a:t>React </a:t>
            </a:r>
            <a:r>
              <a:rPr lang="ru-RU" dirty="0">
                <a:solidFill>
                  <a:srgbClr val="0D0D0D"/>
                </a:solidFill>
              </a:rPr>
              <a:t>з </a:t>
            </a:r>
            <a:r>
              <a:rPr lang="en-US" dirty="0">
                <a:solidFill>
                  <a:srgbClr val="0D0D0D"/>
                </a:solidFill>
              </a:rPr>
              <a:t>TypeScript </a:t>
            </a:r>
            <a:r>
              <a:rPr lang="ru-RU" dirty="0">
                <a:solidFill>
                  <a:srgbClr val="0D0D0D"/>
                </a:solidFill>
              </a:rPr>
              <a:t>та </a:t>
            </a:r>
            <a:r>
              <a:rPr lang="en-US" dirty="0">
                <a:solidFill>
                  <a:srgbClr val="0D0D0D"/>
                </a:solidFill>
              </a:rPr>
              <a:t>MUI </a:t>
            </a:r>
            <a:r>
              <a:rPr lang="ru-RU" dirty="0">
                <a:solidFill>
                  <a:srgbClr val="0D0D0D"/>
                </a:solidFill>
              </a:rPr>
              <a:t>для фронтенду, провести тестування основних сценаріїв.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66521C0A-9A96-6151-2C87-7941AC500B19}"/>
              </a:ext>
            </a:extLst>
          </p:cNvPr>
          <p:cNvSpPr txBox="1">
            <a:spLocks/>
          </p:cNvSpPr>
          <p:nvPr/>
        </p:nvSpPr>
        <p:spPr>
          <a:xfrm>
            <a:off x="154626" y="928977"/>
            <a:ext cx="2998710" cy="6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ru-RU" sz="3200" dirty="0"/>
              <a:t>Кл</a:t>
            </a:r>
            <a:r>
              <a:rPr lang="uk-UA" sz="3200" dirty="0"/>
              <a:t>ієнтська частина</a:t>
            </a:r>
            <a:endParaRPr lang="ru-RU" sz="3200" dirty="0"/>
          </a:p>
        </p:txBody>
      </p:sp>
      <p:sp>
        <p:nvSpPr>
          <p:cNvPr id="5" name="Google Shape;92;p17">
            <a:extLst>
              <a:ext uri="{FF2B5EF4-FFF2-40B4-BE49-F238E27FC236}">
                <a16:creationId xmlns:a16="http://schemas.microsoft.com/office/drawing/2014/main" id="{1766A63B-20CC-2EB9-16BC-12E96E1DB9C9}"/>
              </a:ext>
            </a:extLst>
          </p:cNvPr>
          <p:cNvSpPr txBox="1">
            <a:spLocks/>
          </p:cNvSpPr>
          <p:nvPr/>
        </p:nvSpPr>
        <p:spPr>
          <a:xfrm>
            <a:off x="2918011" y="928977"/>
            <a:ext cx="2998710" cy="6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ru-RU" sz="2200" dirty="0"/>
              <a:t>Серверна </a:t>
            </a:r>
            <a:r>
              <a:rPr lang="uk-UA" sz="2200" dirty="0"/>
              <a:t>частина</a:t>
            </a:r>
            <a:endParaRPr lang="ru-RU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03BAA-58A2-6F49-11A6-B6FD8E8A6F99}"/>
              </a:ext>
            </a:extLst>
          </p:cNvPr>
          <p:cNvSpPr txBox="1"/>
          <p:nvPr/>
        </p:nvSpPr>
        <p:spPr>
          <a:xfrm>
            <a:off x="361330" y="1832739"/>
            <a:ext cx="25566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18 </a:t>
            </a:r>
            <a:r>
              <a:rPr lang="uk-U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 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UI, 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Axios, 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Router DOM</a:t>
            </a:r>
            <a:endParaRPr lang="ru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624B92-3066-76F4-4A86-BB0EF6276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94" y="3556748"/>
            <a:ext cx="653750" cy="5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31E2A9-9C89-AF81-CDE1-498587EE4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9670" y="3556748"/>
            <a:ext cx="581750" cy="581750"/>
          </a:xfrm>
          <a:prstGeom prst="rect">
            <a:avLst/>
          </a:prstGeom>
        </p:spPr>
      </p:pic>
      <p:sp>
        <p:nvSpPr>
          <p:cNvPr id="11" name="Google Shape;92;p17">
            <a:extLst>
              <a:ext uri="{FF2B5EF4-FFF2-40B4-BE49-F238E27FC236}">
                <a16:creationId xmlns:a16="http://schemas.microsoft.com/office/drawing/2014/main" id="{8A721BA5-9143-8D29-1292-DE92829A0BAD}"/>
              </a:ext>
            </a:extLst>
          </p:cNvPr>
          <p:cNvSpPr txBox="1">
            <a:spLocks/>
          </p:cNvSpPr>
          <p:nvPr/>
        </p:nvSpPr>
        <p:spPr>
          <a:xfrm>
            <a:off x="5779530" y="928977"/>
            <a:ext cx="2998710" cy="65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ru-RU" sz="2200" dirty="0"/>
              <a:t>Автентифікац</a:t>
            </a:r>
            <a:r>
              <a:rPr lang="uk-UA" sz="2200" dirty="0"/>
              <a:t>і</a:t>
            </a:r>
            <a:r>
              <a:rPr lang="ru-RU" sz="2200" dirty="0"/>
              <a:t>я та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62680-ED27-E2B7-315B-76FD00D1B912}"/>
              </a:ext>
            </a:extLst>
          </p:cNvPr>
          <p:cNvSpPr txBox="1"/>
          <p:nvPr/>
        </p:nvSpPr>
        <p:spPr>
          <a:xfrm>
            <a:off x="3222849" y="1832739"/>
            <a:ext cx="25566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nl-N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 Core .NET 8 (C#)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 Framework Core, 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Server Express, 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428098-9003-D22E-DC30-D8F750ACB057}"/>
              </a:ext>
            </a:extLst>
          </p:cNvPr>
          <p:cNvSpPr txBox="1"/>
          <p:nvPr/>
        </p:nvSpPr>
        <p:spPr>
          <a:xfrm>
            <a:off x="6156549" y="1832739"/>
            <a:ext cx="25566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000" dirty="0"/>
              <a:t>JWT, OTP </a:t>
            </a:r>
            <a:r>
              <a:rPr lang="ru-RU" sz="2000" dirty="0"/>
              <a:t>через </a:t>
            </a:r>
            <a:r>
              <a:rPr lang="en-US" sz="2000" dirty="0"/>
              <a:t>SMTP Gmail,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000" dirty="0"/>
              <a:t>Google </a:t>
            </a:r>
            <a:r>
              <a:rPr lang="en-US" sz="2000" dirty="0" err="1"/>
              <a:t>Oauth</a:t>
            </a:r>
            <a:r>
              <a:rPr lang="ru-RU" sz="2000" dirty="0"/>
              <a:t>,</a:t>
            </a:r>
            <a:endParaRPr lang="en-US" sz="2000" dirty="0"/>
          </a:p>
          <a:p>
            <a:pPr marL="342900" indent="-342900">
              <a:buFont typeface="+mj-lt"/>
              <a:buAutoNum type="arabicParenR"/>
            </a:pPr>
            <a:r>
              <a:rPr lang="en-US" sz="2000" dirty="0"/>
              <a:t>Visual Studio 2022, </a:t>
            </a:r>
            <a:endParaRPr lang="ru-RU" sz="2000" dirty="0"/>
          </a:p>
          <a:p>
            <a:pPr marL="342900" indent="-342900">
              <a:buFont typeface="+mj-lt"/>
              <a:buAutoNum type="arabicParenR"/>
            </a:pPr>
            <a:r>
              <a:rPr lang="en-US" sz="2000" dirty="0"/>
              <a:t>Visual Studio Code, </a:t>
            </a:r>
            <a:endParaRPr lang="ru-RU" sz="2000" dirty="0"/>
          </a:p>
          <a:p>
            <a:pPr marL="342900" indent="-342900">
              <a:buFont typeface="+mj-lt"/>
              <a:buAutoNum type="arabicParenR"/>
            </a:pPr>
            <a:r>
              <a:rPr lang="en-US" sz="2000" dirty="0"/>
              <a:t>Figma, GitHub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AAC75BC5-A679-66C3-9EDD-2CA409C76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696" y="3262220"/>
            <a:ext cx="109728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План для Entity Framework Core 8 | Microsoft Learn">
            <a:extLst>
              <a:ext uri="{FF2B5EF4-FFF2-40B4-BE49-F238E27FC236}">
                <a16:creationId xmlns:a16="http://schemas.microsoft.com/office/drawing/2014/main" id="{432F9782-1D21-689D-C69C-255D5137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232" y="4252389"/>
            <a:ext cx="1026618" cy="5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Why SQL Server Express is a good fit for your workloads - Tech Monitor">
            <a:extLst>
              <a:ext uri="{FF2B5EF4-FFF2-40B4-BE49-F238E27FC236}">
                <a16:creationId xmlns:a16="http://schemas.microsoft.com/office/drawing/2014/main" id="{9C0267EA-FFF3-4CEF-AAE9-0B3DBDC26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992" y="3556748"/>
            <a:ext cx="1296208" cy="49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Microsoft Visual Studio — Википедия">
            <a:extLst>
              <a:ext uri="{FF2B5EF4-FFF2-40B4-BE49-F238E27FC236}">
                <a16:creationId xmlns:a16="http://schemas.microsoft.com/office/drawing/2014/main" id="{8A8643E0-8B51-7485-2516-5BD99E215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99" y="3567296"/>
            <a:ext cx="581751" cy="58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Microsoft Visual Studio Code значок">
            <a:extLst>
              <a:ext uri="{FF2B5EF4-FFF2-40B4-BE49-F238E27FC236}">
                <a16:creationId xmlns:a16="http://schemas.microsoft.com/office/drawing/2014/main" id="{C8D0A477-8931-C60B-F68E-2F6B10ED2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386" y="4149047"/>
            <a:ext cx="757761" cy="75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Github Logo - Free social media icons">
            <a:extLst>
              <a:ext uri="{FF2B5EF4-FFF2-40B4-BE49-F238E27FC236}">
                <a16:creationId xmlns:a16="http://schemas.microsoft.com/office/drawing/2014/main" id="{A341023B-02A0-512C-9B78-2DB4B07EC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819" y="4214523"/>
            <a:ext cx="612077" cy="61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BD8DEE0E-68E0-921D-BFAA-0E83DA3E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E746C320-247C-8F7F-7C19-047AB54E4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611" y="354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Схема БД</a:t>
            </a:r>
            <a:endParaRPr sz="3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37029910-827B-07EA-A09C-5C682D6319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78" y="4315474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4C97F-8ACB-BF64-EA3F-1E56729EA7F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CDE52-E74E-6E96-C065-1DD7703EC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63" y="897176"/>
            <a:ext cx="7146599" cy="37091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213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77EB8-F33A-286B-54F6-152BBE46E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0491"/>
            <a:ext cx="9144000" cy="31062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44362FBB-D9B1-E45F-1B88-A4E63695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0E122187-4C38-0B44-B1C8-ADDC48891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611" y="354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Приклади розроблених алгоритмів</a:t>
            </a:r>
            <a:endParaRPr sz="3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67AF7C32-A766-A726-4CF8-2FE0DAD443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B86708-B9C1-88CA-DCEF-7761A6A79A6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325EE-BCBC-2926-8455-01223AAC25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22" r="5170"/>
          <a:stretch>
            <a:fillRect/>
          </a:stretch>
        </p:blipFill>
        <p:spPr bwMode="auto">
          <a:xfrm>
            <a:off x="571499" y="866776"/>
            <a:ext cx="3731559" cy="314368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E9C74B-02EB-DCF9-F735-F6D70DA5E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928" y="2861813"/>
            <a:ext cx="3506376" cy="14326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245B0D-F244-BF47-7C9A-13724C1A7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6124" y="866776"/>
            <a:ext cx="3506180" cy="14149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8E7CB4-B7EA-8F2A-888B-E82BFF85F4C8}"/>
              </a:ext>
            </a:extLst>
          </p:cNvPr>
          <p:cNvSpPr txBox="1"/>
          <p:nvPr/>
        </p:nvSpPr>
        <p:spPr>
          <a:xfrm>
            <a:off x="4974389" y="2310140"/>
            <a:ext cx="3382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/>
              <a:t>(</a:t>
            </a:r>
            <a:r>
              <a:rPr lang="uk-UA" sz="1400" dirty="0"/>
              <a:t>Формула обрахунку базового досвіду</a:t>
            </a:r>
            <a:r>
              <a:rPr lang="uk" sz="1400" dirty="0"/>
              <a:t>)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E4263-E56E-5E96-634B-C73E4DAA5D64}"/>
              </a:ext>
            </a:extLst>
          </p:cNvPr>
          <p:cNvSpPr txBox="1"/>
          <p:nvPr/>
        </p:nvSpPr>
        <p:spPr>
          <a:xfrm>
            <a:off x="1131175" y="4083129"/>
            <a:ext cx="3382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/>
              <a:t>(</a:t>
            </a:r>
            <a:r>
              <a:rPr lang="uk-UA" dirty="0"/>
              <a:t>DFD-діаграма для задачі управління звичками та нарахування досвіду</a:t>
            </a:r>
            <a:r>
              <a:rPr lang="uk" sz="1400" dirty="0"/>
              <a:t>)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78408F-2BAB-9F4F-6081-E8F7CE881D9D}"/>
              </a:ext>
            </a:extLst>
          </p:cNvPr>
          <p:cNvSpPr txBox="1"/>
          <p:nvPr/>
        </p:nvSpPr>
        <p:spPr>
          <a:xfrm>
            <a:off x="4954707" y="4390906"/>
            <a:ext cx="3382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/>
              <a:t>(</a:t>
            </a:r>
            <a:r>
              <a:rPr lang="uk-UA" sz="1400" dirty="0"/>
              <a:t>Формула обрахунку досвіду користувача</a:t>
            </a:r>
            <a:r>
              <a:rPr lang="uk" sz="1400" dirty="0"/>
              <a:t>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3003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D62E9-1AD9-8069-D378-FFE49EBC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80" y="805401"/>
            <a:ext cx="1778348" cy="3208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3017B6-4ECB-5E66-54AF-06A4EE741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380" y="805401"/>
            <a:ext cx="3212886" cy="1833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D2971A-6EF8-948C-9E6C-1068DACE5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7380" y="2766502"/>
            <a:ext cx="3212886" cy="18838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1F8B8E-9BEF-B267-073A-469124767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1002" y="805401"/>
            <a:ext cx="3004352" cy="1833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6EA45C-0B3F-2FB2-9FA6-BE467397C1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1002" y="2766502"/>
            <a:ext cx="3004352" cy="18838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57640" y="229374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 інтерфейсу користувача</a:t>
            </a:r>
            <a:br>
              <a:rPr lang="uk" sz="3200" dirty="0"/>
            </a:b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05984-F15A-A702-2CC0-DB9D46FDE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92" y="1180845"/>
            <a:ext cx="4496250" cy="2274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CDD5FD6-06BE-7795-F0A7-E5F4553A3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603" y="819743"/>
            <a:ext cx="3912663" cy="33858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C26131-449A-726E-3510-E75693830480}"/>
              </a:ext>
            </a:extLst>
          </p:cNvPr>
          <p:cNvSpPr txBox="1"/>
          <p:nvPr/>
        </p:nvSpPr>
        <p:spPr>
          <a:xfrm>
            <a:off x="462937" y="357504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/>
              <a:t>(Статистика улюбленця)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D6FC7-5106-0DD4-FC2D-0D095E22E286}"/>
              </a:ext>
            </a:extLst>
          </p:cNvPr>
          <p:cNvSpPr txBox="1"/>
          <p:nvPr/>
        </p:nvSpPr>
        <p:spPr>
          <a:xfrm>
            <a:off x="6168160" y="4205611"/>
            <a:ext cx="2706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/>
              <a:t>(Карти звичок)</a:t>
            </a:r>
            <a:endParaRPr lang="uk-U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5EC1CC2E-91EE-44C1-F094-7D5DDC03C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10088F34-3989-D81E-8000-E62CC790DC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365" y="166752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uk" sz="3200" dirty="0"/>
              <a:t>Приклад реалізації інтерфейсу користувача</a:t>
            </a:r>
            <a:br>
              <a:rPr lang="uk" sz="3200" dirty="0"/>
            </a:b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DC45C585-A197-D7AA-3188-6E7B8E2C8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085930-0AA2-0733-5BFE-01C502AB8948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4FFA8-6348-8288-4B26-DDAFB1DF7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08" y="681606"/>
            <a:ext cx="3407914" cy="29094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4A8910-E057-2697-5A3B-7860ECF00B30}"/>
              </a:ext>
            </a:extLst>
          </p:cNvPr>
          <p:cNvSpPr txBox="1"/>
          <p:nvPr/>
        </p:nvSpPr>
        <p:spPr>
          <a:xfrm>
            <a:off x="281365" y="3667491"/>
            <a:ext cx="32990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/>
              <a:t>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Heatmap </a:t>
            </a:r>
            <a:r>
              <a:rPr lang="uk-UA" sz="1400" dirty="0"/>
              <a:t>виконання звичок</a:t>
            </a:r>
            <a:r>
              <a:rPr lang="uk" sz="1400" dirty="0"/>
              <a:t>)</a:t>
            </a:r>
            <a:endParaRPr lang="uk-UA" dirty="0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C8FE849C-9071-C532-8CC6-18D32B225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681606"/>
            <a:ext cx="4739640" cy="27384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BA2B49-754A-18D5-17E4-E17216F22C3F}"/>
              </a:ext>
            </a:extLst>
          </p:cNvPr>
          <p:cNvSpPr txBox="1"/>
          <p:nvPr/>
        </p:nvSpPr>
        <p:spPr>
          <a:xfrm>
            <a:off x="4384978" y="3591038"/>
            <a:ext cx="4586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" sz="1400" dirty="0"/>
              <a:t>(</a:t>
            </a:r>
            <a:r>
              <a:rPr lang="uk-UA" sz="1400" dirty="0"/>
              <a:t>Досягнення</a:t>
            </a:r>
            <a:r>
              <a:rPr lang="uk" sz="1400" dirty="0"/>
              <a:t>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19713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Висновки </a:t>
            </a:r>
            <a:endParaRPr sz="32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sp>
        <p:nvSpPr>
          <p:cNvPr id="4" name="Google Shape;86;p16">
            <a:extLst>
              <a:ext uri="{FF2B5EF4-FFF2-40B4-BE49-F238E27FC236}">
                <a16:creationId xmlns:a16="http://schemas.microsoft.com/office/drawing/2014/main" id="{696C0020-9CA9-1A48-29B1-B93EDC200062}"/>
              </a:ext>
            </a:extLst>
          </p:cNvPr>
          <p:cNvSpPr txBox="1">
            <a:spLocks/>
          </p:cNvSpPr>
          <p:nvPr/>
        </p:nvSpPr>
        <p:spPr>
          <a:xfrm>
            <a:off x="270150" y="796013"/>
            <a:ext cx="8706210" cy="356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uk-UA" altLang="ru-UA" dirty="0">
                <a:solidFill>
                  <a:schemeClr val="tx1"/>
                </a:solidFill>
                <a:latin typeface="Arial" panose="020B0604020202020204" pitchFamily="34" charset="0"/>
              </a:rPr>
              <a:t>з</a:t>
            </a:r>
            <a:r>
              <a:rPr lang="ru-UA" altLang="ru-UA" dirty="0">
                <a:solidFill>
                  <a:schemeClr val="tx1"/>
                </a:solidFill>
                <a:latin typeface="Arial" panose="020B0604020202020204" pitchFamily="34" charset="0"/>
              </a:rPr>
              <a:t>дійснено аналіз предметної області та доступних аналогічних рішень, визначено вимоги до системи та побудовано UML-діаграми</a:t>
            </a:r>
            <a:r>
              <a:rPr lang="en-US" altLang="ru-UA" dirty="0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uk-UA" altLang="ru-UA" dirty="0">
                <a:solidFill>
                  <a:schemeClr val="tx1"/>
                </a:solidFill>
                <a:latin typeface="Arial" panose="020B0604020202020204" pitchFamily="34" charset="0"/>
              </a:rPr>
              <a:t>спроєктовано та реалізовано </a:t>
            </a:r>
            <a:r>
              <a:rPr lang="ru-UA" altLang="ru-UA" dirty="0">
                <a:solidFill>
                  <a:schemeClr val="tx1"/>
                </a:solidFill>
                <a:latin typeface="Arial" panose="020B0604020202020204" pitchFamily="34" charset="0"/>
              </a:rPr>
              <a:t>бази даних із застосуванням підходу Code-First та міграцій Entity Framework Core, що повністю відображає предметну область</a:t>
            </a:r>
            <a:r>
              <a:rPr lang="en-US" altLang="ru-UA" dirty="0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UA" altLang="ru-UA" dirty="0">
                <a:solidFill>
                  <a:schemeClr val="tx1"/>
                </a:solidFill>
                <a:latin typeface="Arial" panose="020B0604020202020204" pitchFamily="34" charset="0"/>
              </a:rPr>
              <a:t>спроєктовано та впроваджено архітектуру Clean Architecture з чітким поділом відповідальності між шарами Domain, Application, Infrastructure, Persistence та API</a:t>
            </a:r>
            <a:r>
              <a:rPr lang="en-US" altLang="ru-UA" dirty="0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UA" altLang="ru-UA" dirty="0">
                <a:solidFill>
                  <a:schemeClr val="tx1"/>
                </a:solidFill>
                <a:latin typeface="Arial" panose="020B0604020202020204" pitchFamily="34" charset="0"/>
              </a:rPr>
              <a:t>реалізовано алгоритми ігрової економіки: формулу нарахування досвіду, прогресивні рівні, catch-up decay стану улюбленця та автоматичну перевірку досягнень</a:t>
            </a:r>
            <a:r>
              <a:rPr lang="en-US" altLang="ru-UA" dirty="0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UA" altLang="ru-UA" dirty="0">
                <a:solidFill>
                  <a:schemeClr val="tx1"/>
                </a:solidFill>
                <a:latin typeface="Arial" panose="020B0604020202020204" pitchFamily="34" charset="0"/>
              </a:rPr>
              <a:t>систему реалізовано на ASP.NET Core Web API з JWT та OTP для бекенду і React з TypeScript та MUI для фронтенду, проведено тестування основних функціональних сценаріїв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(2)</Template>
  <TotalTime>1918</TotalTime>
  <Words>439</Words>
  <Application>Microsoft Office PowerPoint</Application>
  <PresentationFormat>On-screen Show (16:9)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Open Sans</vt:lpstr>
      <vt:lpstr>Economica</vt:lpstr>
      <vt:lpstr>Шаблон презентації кваліфікаційної роботи магістрів</vt:lpstr>
      <vt:lpstr>Програмна система для контролю звичок та продуктивності з елементами гейміфікації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Схема БД</vt:lpstr>
      <vt:lpstr>Архітектура створенного програмного забезпечення</vt:lpstr>
      <vt:lpstr>Приклади розроблених алгоритмів</vt:lpstr>
      <vt:lpstr>Дизайн системи</vt:lpstr>
      <vt:lpstr>Приклад реалізації інтерфейсу користувача </vt:lpstr>
      <vt:lpstr>Приклад реалізації інтерфейсу користувача </vt:lpstr>
      <vt:lpstr>Висновки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Игорь Рыбалко</dc:creator>
  <cp:lastModifiedBy>Игорь Рыбалко</cp:lastModifiedBy>
  <cp:revision>17</cp:revision>
  <dcterms:created xsi:type="dcterms:W3CDTF">2026-06-05T02:15:52Z</dcterms:created>
  <dcterms:modified xsi:type="dcterms:W3CDTF">2026-06-11T20:30:03Z</dcterms:modified>
</cp:coreProperties>
</file>